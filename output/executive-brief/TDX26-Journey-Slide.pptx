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2E"/>
                </a:solidFill>
                <a:latin typeface="Calibri"/>
              </a:defRPr>
            </a:pPr>
            <a:r>
              <a:t>The Evolution of Banking: Demo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From paper forms to autonomous AI — three chapters of customer experience transformation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B8D"/>
                </a:solidFill>
                <a:latin typeface="Calibri"/>
              </a:defRPr>
            </a:pPr>
            <a:r>
              <a:t>CHAPTER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1E2E"/>
                </a:solidFill>
                <a:latin typeface="Calibri"/>
              </a:defRPr>
            </a:pPr>
            <a:r>
              <a:t>Traditional</a:t>
            </a:r>
            <a:br/>
            <a:r>
              <a:t>In-Branch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"Fill out this form and bring it back to the counter."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1E2E"/>
                </a:solidFill>
                <a:latin typeface="Calibri"/>
              </a:defRPr>
            </a:pPr>
            <a:r>
              <a:t>  Paper-based application forms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Manual data entry by staff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Processing: days to weeks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Branch hours only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No real-time feedback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Error-prone, repetitive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577840"/>
            <a:ext cx="2926080" cy="502920"/>
          </a:xfrm>
          <a:prstGeom prst="roundRect">
            <a:avLst/>
          </a:prstGeom>
          <a:solidFill>
            <a:srgbClr val="6B7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Time to apply:  2-5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474720" cy="475488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CHAPTER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1E2E"/>
                </a:solidFill>
                <a:latin typeface="Calibri"/>
              </a:defRPr>
            </a:pPr>
            <a:r>
              <a:t>Digitised</a:t>
            </a:r>
            <a:br/>
            <a:r>
              <a:t>Form Wizard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"10 quick questions. About 3 minutes."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3832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1E2E"/>
                </a:solidFill>
                <a:latin typeface="Calibri"/>
              </a:defRPr>
            </a:pPr>
            <a:r>
              <a:t>  10-step guided wizard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Structured validated inputs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Progress bar + review page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Secure, encrypted, 24/7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Instant confirmation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Mobile-first experience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5577840"/>
            <a:ext cx="292608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Time to apply:  ~3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474720" cy="4754880"/>
          </a:xfrm>
          <a:prstGeom prst="round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2B2B"/>
                </a:solidFill>
                <a:latin typeface="Calibri"/>
              </a:defRPr>
            </a:pPr>
            <a:r>
              <a:t>CHAPTER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0116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1E2E"/>
                </a:solidFill>
                <a:latin typeface="Calibri"/>
              </a:defRPr>
            </a:pPr>
            <a:r>
              <a:t>Conversational</a:t>
            </a:r>
            <a:br/>
            <a:r>
              <a:t>AI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"Hi, I'm FrED. How can I help you?"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832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1E2E"/>
                </a:solidFill>
                <a:latin typeface="Calibri"/>
              </a:defRPr>
            </a:pPr>
            <a:r>
              <a:t>  Natural language interaction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Identity-aware (knows you)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Guided conversational Q&amp;A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Autonomous record creation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Guardrailed + escalation</a:t>
            </a:r>
          </a:p>
          <a:p>
            <a:pPr>
              <a:spcBef>
                <a:spcPts val="500"/>
              </a:spcBef>
              <a:defRPr sz="1100">
                <a:solidFill>
                  <a:srgbClr val="1E1E2E"/>
                </a:solidFill>
              </a:defRPr>
            </a:pPr>
            <a:r>
              <a:t>  Any channel, any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5577840"/>
            <a:ext cx="2926080" cy="502920"/>
          </a:xfrm>
          <a:prstGeom prst="roundRect">
            <a:avLst/>
          </a:prstGeom>
          <a:solidFill>
            <a:srgbClr val="E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Time to apply:  ~2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02B2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02B2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FDE Bank  |  Salesforce Agentforce Headless 360  |  TDX '26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
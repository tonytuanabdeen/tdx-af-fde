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TDX '26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E02B2B"/>
                </a:solidFill>
                <a:latin typeface="Calibri"/>
              </a:defRPr>
            </a:pPr>
            <a:r>
              <a:t>Salesforce Headless 360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B8D"/>
                </a:solidFill>
                <a:latin typeface="Calibri"/>
              </a:defRPr>
            </a:pPr>
            <a:r>
              <a:t>Executive Brief  |  FDE Bank — Lending &amp; Mortgage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Platform: Salesforce Agentforce + Flutter Mobile  |  API v66.0  |  Agent API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What is Headless 360?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1E2E"/>
                </a:solidFill>
                <a:latin typeface="Calibri"/>
              </a:defRPr>
            </a:pPr>
            <a:r>
              <a:t>A new architecture paradigm that decouples Agentforce from the Salesforce UI layer.</a:t>
            </a:r>
          </a:p>
          <a:p>
            <a:pPr>
              <a:spcBef>
                <a:spcPts val="600"/>
              </a:spcBef>
              <a:defRPr sz="1000" b="0">
                <a:solidFill>
                  <a:srgbClr val="1E1E2E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defRPr sz="1600" b="0">
                <a:solidFill>
                  <a:srgbClr val="6B7B8D"/>
                </a:solidFill>
                <a:latin typeface="Calibri"/>
              </a:defRPr>
            </a:pPr>
            <a:r>
              <a:t>Embed autonomous AI agents into any custom channel — native mobile apps, third-party portals, IoT devices — while Salesforce remains the single source of truth.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5029200" cy="292608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B7B8D"/>
                </a:solidFill>
              </a:defRPr>
            </a:pPr>
            <a:r>
              <a:t>Traditional Approach</a:t>
            </a:r>
          </a:p>
          <a:p>
            <a:pPr>
              <a:spcBef>
                <a:spcPts val="800"/>
              </a:spcBef>
              <a:defRPr sz="1400">
                <a:solidFill>
                  <a:srgbClr val="6B7B8D"/>
                </a:solidFill>
              </a:defRPr>
            </a:pPr>
            <a:r>
              <a:t>  Agents bound to SF Messaging / Service Cloud</a:t>
            </a:r>
          </a:p>
          <a:p>
            <a:pPr>
              <a:spcBef>
                <a:spcPts val="800"/>
              </a:spcBef>
              <a:defRPr sz="1400">
                <a:solidFill>
                  <a:srgbClr val="6B7B8D"/>
                </a:solidFill>
              </a:defRPr>
            </a:pPr>
            <a:r>
              <a:t>  Customer data locked behind SF UI</a:t>
            </a:r>
          </a:p>
          <a:p>
            <a:pPr>
              <a:spcBef>
                <a:spcPts val="800"/>
              </a:spcBef>
              <a:defRPr sz="1400">
                <a:solidFill>
                  <a:srgbClr val="6B7B8D"/>
                </a:solidFill>
              </a:defRPr>
            </a:pPr>
            <a:r>
              <a:t>  Limited to Salesforce-rendered 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3200400"/>
            <a:ext cx="5029200" cy="292608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2B2B"/>
                </a:solidFill>
              </a:defRPr>
            </a:pPr>
            <a:r>
              <a:t>Headless 360 Approach</a:t>
            </a:r>
          </a:p>
          <a:p>
            <a:pPr>
              <a:spcBef>
                <a:spcPts val="800"/>
              </a:spcBef>
              <a:defRPr sz="1400">
                <a:solidFill>
                  <a:srgbClr val="1E1E2E"/>
                </a:solidFill>
              </a:defRPr>
            </a:pPr>
            <a:r>
              <a:t>  Agents accessible via REST API from any frontend</a:t>
            </a:r>
          </a:p>
          <a:p>
            <a:pPr>
              <a:spcBef>
                <a:spcPts val="800"/>
              </a:spcBef>
              <a:defRPr sz="1400">
                <a:solidFill>
                  <a:srgbClr val="1E1E2E"/>
                </a:solidFill>
              </a:defRPr>
            </a:pPr>
            <a:r>
              <a:t>  Customer 360 data served headlessly</a:t>
            </a:r>
          </a:p>
          <a:p>
            <a:pPr>
              <a:spcBef>
                <a:spcPts val="800"/>
              </a:spcBef>
              <a:defRPr sz="1400">
                <a:solidFill>
                  <a:srgbClr val="1E1E2E"/>
                </a:solidFill>
              </a:defRPr>
            </a:pPr>
            <a:r>
              <a:t>  Full creative control over brand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A1E0"/>
                </a:solidFill>
                <a:latin typeface="Calibri"/>
              </a:defRPr>
            </a:pPr>
            <a:r>
              <a:t>Key Enabler: Agentforce Agent API (/einstein/ai-agent/v1) — stateful, session-based REST endpoint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Agent Architecture: Loan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Calibri"/>
              </a:defRPr>
            </a:pPr>
            <a:r>
              <a:t>Multi-agent orchestration  |  Atlas ConcurrentMultiAgentOrchestration 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828800"/>
            <a:ext cx="3200400" cy="82296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A1E0"/>
                </a:solidFill>
              </a:defRPr>
            </a:pPr>
            <a:r>
              <a:t>Agent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560320" cy="82296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2B2B"/>
                </a:solidFill>
              </a:defRPr>
            </a:pPr>
            <a:r>
              <a:t>Loan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3200400"/>
            <a:ext cx="2560320" cy="8229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B7B8D"/>
                </a:solidFill>
              </a:defRPr>
            </a:pPr>
            <a:r>
              <a:t>Escalation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200400"/>
            <a:ext cx="2560320" cy="8229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B7B8D"/>
                </a:solidFill>
              </a:defRPr>
            </a:pPr>
            <a:r>
              <a:t>Off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3200400"/>
            <a:ext cx="2560320" cy="82296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6B7B8D"/>
                </a:solidFill>
              </a:defRPr>
            </a:pPr>
            <a:r>
              <a:t>Ambiguous Qn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Apex-Backed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46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1E2E"/>
                </a:solidFill>
                <a:latin typeface="Calibri"/>
              </a:defRPr>
            </a:pPr>
            <a:r>
              <a:t>  get_contact_info — Retrieves user identity from Contact record</a:t>
            </a:r>
          </a:p>
          <a:p>
            <a:pPr>
              <a:spcBef>
                <a:spcPts val="800"/>
              </a:spcBef>
              <a:defRPr sz="1400" b="0">
                <a:solidFill>
                  <a:srgbClr val="1E1E2E"/>
                </a:solidFill>
                <a:latin typeface="Calibri"/>
              </a:defRPr>
            </a:pPr>
            <a:r>
              <a:t>  create_loan_application — Creates Loan_Application__c + 5 Loan_QA__c child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1E2E"/>
                </a:solidFill>
                <a:latin typeface="Calibri"/>
              </a:defRPr>
            </a:pPr>
            <a:r>
              <a:t>Session State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463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Consolas"/>
              </a:defRPr>
            </a:pPr>
            <a:r>
              <a:t>salesforceContactId, contact_first_name,</a:t>
            </a:r>
            <a:br/>
            <a:r>
              <a:t>contact_last_name, contact_account_id,</a:t>
            </a:r>
            <a:br/>
            <a:r>
              <a:t>loan_application_id, loan_application_name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FDE Bank Mobile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Flutter-based native app demonstrating a real-world headless banking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E2E"/>
                </a:solidFill>
              </a:defRPr>
            </a:pPr>
            <a:r>
              <a:t>Tech Stack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Framework: Flutter (Dart &gt;=3.3.0)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State: Riverpod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Navigation: GoRouter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HTTP: Dart http package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Auth: OAuth 2.0 Client Credentials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Agent: Agentforce Agent API (REST)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</a:defRPr>
            </a:pPr>
            <a:r>
              <a:t>  Security: flutter_dotenv for secrets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02B2B"/>
                </a:solidFill>
              </a:defRPr>
            </a:pPr>
            <a:r>
              <a:t>Salesforce Integration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1. OAuth 2.0 Client Credentials Flow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   Scopes: api, refresh_token, chatbot_api, sfap_api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2. Contact REST API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   Fetches customer profile data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3. Agentforce Agent API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   Session create / message / end lifecycle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4. Session Variables</a:t>
            </a:r>
          </a:p>
          <a:p>
            <a:pPr>
              <a:spcBef>
                <a:spcPts val="300"/>
              </a:spcBef>
              <a:defRPr sz="1300">
                <a:solidFill>
                  <a:srgbClr val="1E1E2E"/>
                </a:solidFill>
              </a:defRPr>
            </a:pPr>
            <a:r>
              <a:t>   Passes contactId at session creation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Key Learnings from TDX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50292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1E2E"/>
                </a:solidFill>
              </a:defRPr>
            </a:pPr>
            <a:r>
              <a:t>Technical Insights</a:t>
            </a:r>
          </a:p>
          <a:p>
            <a:pPr>
              <a:spcBef>
                <a:spcPts val="1000"/>
              </a:spcBef>
              <a:defRPr sz="1200">
                <a:solidFill>
                  <a:srgbClr val="1E1E2E"/>
                </a:solidFill>
              </a:defRPr>
            </a:pPr>
            <a:r>
              <a:t>  External Client Apps replace Connected Apps for Agent API access</a:t>
            </a:r>
          </a:p>
          <a:p>
            <a:pPr>
              <a:spcBef>
                <a:spcPts val="1000"/>
              </a:spcBef>
              <a:defRPr sz="1200">
                <a:solidFill>
                  <a:srgbClr val="1E1E2E"/>
                </a:solidFill>
              </a:defRPr>
            </a:pPr>
            <a:r>
              <a:t>  Session-based architecture — stateful multi-turn without client context</a:t>
            </a:r>
          </a:p>
          <a:p>
            <a:pPr>
              <a:spcBef>
                <a:spcPts val="1000"/>
              </a:spcBef>
              <a:defRPr sz="1200">
                <a:solidFill>
                  <a:srgbClr val="1E1E2E"/>
                </a:solidFill>
              </a:defRPr>
            </a:pPr>
            <a:r>
              <a:t>  Streaming support with text chunk types for real-time UX</a:t>
            </a:r>
          </a:p>
          <a:p>
            <a:pPr>
              <a:spcBef>
                <a:spcPts val="1000"/>
              </a:spcBef>
              <a:defRPr sz="1200">
                <a:solidFill>
                  <a:srgbClr val="1E1E2E"/>
                </a:solidFill>
              </a:defRPr>
            </a:pPr>
            <a:r>
              <a:t>  Agent Script DSL (.agent) — declarative, version-controllable</a:t>
            </a:r>
          </a:p>
          <a:p>
            <a:pPr>
              <a:spcBef>
                <a:spcPts val="1000"/>
              </a:spcBef>
              <a:defRPr sz="1200">
                <a:solidFill>
                  <a:srgbClr val="1E1E2E"/>
                </a:solidFill>
              </a:defRPr>
            </a:pPr>
            <a:r>
              <a:t>  Concurrent Multi-Agent Orchestration via Atlas planner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A1E0"/>
                </a:solidFill>
              </a:defRPr>
            </a:pPr>
            <a:r>
              <a:t>Architecture Decisions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Thin client, thick platform — all logic in Salesforce Apex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Dual UX — wizard (form) AND conversational (agent) paths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Identity via session variables — no 'who are you?' needed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Gotchas: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  Agent type cannot be 'Agentforce (Default)'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  Use My Domain URL (not lightning.force.com)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  Implement 401 token refresh client-side</a:t>
            </a:r>
          </a:p>
          <a:p>
            <a:pPr>
              <a:spcBef>
                <a:spcPts val="800"/>
              </a:spcBef>
              <a:defRPr sz="1200">
                <a:solidFill>
                  <a:srgbClr val="1E1E2E"/>
                </a:solidFill>
              </a:defRPr>
            </a:pPr>
            <a:r>
              <a:t>    x-b3-sampled: 1 header for tracing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Demo Journey: The Evolution of Banking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CHAPTER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1E2E"/>
                </a:solidFill>
                <a:latin typeface="Calibri"/>
              </a:defRPr>
            </a:pPr>
            <a:r>
              <a:t>Traditional In-Branch (Paper-Based)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"Please take a seat, fill out this form, and bring it back to the counter."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10515600" cy="32004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/>
            </a:pP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Customer visits a physical branch</a:t>
            </a: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Fills out paper-based loan application forms</a:t>
            </a: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Bank officer manually enters data into systems</a:t>
            </a: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Processing takes days to weeks</a:t>
            </a: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No real-time feedback or status updates</a:t>
            </a:r>
          </a:p>
          <a:p>
            <a:pPr>
              <a:spcBef>
                <a:spcPts val="800"/>
              </a:spcBef>
              <a:defRPr sz="1500">
                <a:solidFill>
                  <a:srgbClr val="1E1E2E"/>
                </a:solidFill>
              </a:defRPr>
            </a:pPr>
            <a:r>
              <a:t>    Error-prone, repetitive data 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02B2B"/>
                </a:solidFill>
                <a:latin typeface="Calibri"/>
              </a:defRPr>
            </a:pPr>
            <a:r>
              <a:t>Pain points: High friction, slow turnaround, inconsistent data quality, inaccessible outside business hours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B7B8D"/>
                </a:solidFill>
                <a:latin typeface="Calibri"/>
              </a:defRPr>
            </a:pPr>
            <a: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  <a:latin typeface="Calibri"/>
              </a:defRPr>
            </a:pPr>
            <a:r>
              <a:t>Digitised Experience (Form Wizard)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"Answer 10 quick questions and we'll prepare your mortgage application. ~3 minutes."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411480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1E2E"/>
                </a:solidFill>
              </a:defRPr>
            </a:pPr>
            <a:r>
              <a:t>Wizard Features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10-step guided wizard with progress bar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Structured inputs: dropdowns, currency, numeric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Client-side validation ensures data quality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Review page before submission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Encrypted, secure, accessible 24/7</a:t>
            </a:r>
          </a:p>
          <a:p>
            <a:pPr>
              <a:spcBef>
                <a:spcPts val="800"/>
              </a:spcBef>
              <a:defRPr sz="1300">
                <a:solidFill>
                  <a:srgbClr val="1E1E2E"/>
                </a:solidFill>
              </a:defRPr>
            </a:pPr>
            <a:r>
              <a:t>  Confirmation with tracking reference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2B2B"/>
                </a:solidFill>
              </a:defRPr>
            </a:pPr>
            <a:r>
              <a:t>UX Highlights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"Your information is encrypted and secure"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"10 steps, about 3 minutes"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"No commitment — review before submitting"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"Prefer to talk to someone? Chat with FrED"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Improvement over paper: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  Speed (minutes not days)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  Accuracy (validated inputs)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  Accessibility (anytime, anywhere)</a:t>
            </a:r>
          </a:p>
          <a:p>
            <a:pPr>
              <a:spcBef>
                <a:spcPts val="500"/>
              </a:spcBef>
              <a:defRPr sz="1200">
                <a:solidFill>
                  <a:srgbClr val="1E1E2E"/>
                </a:solidFill>
              </a:defRPr>
            </a:pPr>
            <a:r>
              <a:t>    Cost (no branch visit required)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2B2B"/>
                </a:solidFill>
                <a:latin typeface="Calibri"/>
              </a:defRPr>
            </a:pPr>
            <a: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1E2E"/>
                </a:solidFill>
                <a:latin typeface="Calibri"/>
              </a:defRPr>
            </a:pPr>
            <a:r>
              <a:t>Conversational Agent-Driven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B8D"/>
                </a:solidFill>
                <a:latin typeface="Calibri"/>
              </a:defRPr>
            </a:pPr>
            <a:r>
              <a:t>"Hi, I'm FrED, FDE Bank's AI Assistant. How can I help you?"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303520" cy="4114800"/>
          </a:xfrm>
          <a:prstGeom prst="roundRect">
            <a:avLst/>
          </a:prstGeom>
          <a:solidFill>
            <a:srgbClr val="FD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02B2B"/>
                </a:solidFill>
              </a:defRPr>
            </a:pPr>
            <a:r>
              <a:t>Capabilities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Natural language — no forms, no buttons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Identity-aware — greets user by name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Guided but flexible — conversational Q&amp;A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Contextual — remembers session state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Autonomous — creates records via Apex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Guardrailed — off-topic, ambiguity, escalation</a:t>
            </a:r>
          </a:p>
          <a:p>
            <a:pPr>
              <a:spcBef>
                <a:spcPts val="700"/>
              </a:spcBef>
              <a:defRPr sz="1300">
                <a:solidFill>
                  <a:srgbClr val="1E1E2E"/>
                </a:solidFill>
              </a:defRPr>
            </a:pPr>
            <a:r>
              <a:t>  Real-time — streaming + typing indicators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286000"/>
            <a:ext cx="5303520" cy="4114800"/>
          </a:xfrm>
          <a:prstGeom prst="roundRect">
            <a:avLst/>
          </a:prstGeom>
          <a:solidFill>
            <a:srgbClr val="E8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A1E0"/>
                </a:solidFill>
              </a:defRPr>
            </a:pPr>
            <a:r>
              <a:t>Agent Conversation Flow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1. Session created (Contact ID passed)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2. get_contact_info -&gt; greet by name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3. Identity confirmation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4. Collect: work, income, property,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   loan amount, duration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5. Summary &amp; confirmation prompt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6. create_loan_application</a:t>
            </a:r>
          </a:p>
          <a:p>
            <a:pPr>
              <a:spcBef>
                <a:spcPts val="600"/>
              </a:spcBef>
              <a:defRPr sz="1300">
                <a:solidFill>
                  <a:srgbClr val="1E1E2E"/>
                </a:solidFill>
                <a:latin typeface="Consolas"/>
              </a:defRPr>
            </a:pPr>
            <a:r>
              <a:t>  7. Success + reference number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2E"/>
                </a:solidFill>
                <a:latin typeface="Calibri"/>
              </a:defRPr>
            </a:pPr>
            <a:r>
              <a:t>The Headless 360 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02B2B"/>
                </a:solidFill>
                <a:latin typeface="Calibri"/>
              </a:defRPr>
            </a:pPr>
            <a:r>
              <a:t>Paper Forms (Days)   &gt;&gt;&gt;   Digital Wizard (Minutes)   &gt;&gt;&gt;   Conversational AI (Seconds)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228600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2194560"/>
            <a:ext cx="25603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Paper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2194560"/>
            <a:ext cx="25603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Wizard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2194560"/>
            <a:ext cx="3474720" cy="502920"/>
          </a:xfrm>
          <a:prstGeom prst="round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Agentforce Headless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228600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Time to apply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69748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2-5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269748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~3 minutes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269748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~2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320040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In-branch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320040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Mobile app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3200400"/>
            <a:ext cx="34747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Any (mobile, web, voice, IoT)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03320"/>
            <a:ext cx="228600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Processing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70332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Manual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70332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Automated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370332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Autonomous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06240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Personalisation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420624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None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420624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Limited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80" y="4206240"/>
            <a:ext cx="34747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Context-aware, identity-resolved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9160"/>
            <a:ext cx="228600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Error handling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4640" y="470916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Callback in days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4960" y="4709160"/>
            <a:ext cx="25603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Inline validation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55280" y="4709160"/>
            <a:ext cx="3474720" cy="502920"/>
          </a:xfrm>
          <a:prstGeom prst="round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Conversational correction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22860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1E2E"/>
                </a:solidFill>
              </a:defRPr>
            </a:pPr>
            <a:r>
              <a:t>Escalation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34640" y="521208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Physical queue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94960" y="5212080"/>
            <a:ext cx="25603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1E1E2E"/>
                </a:solidFill>
              </a:defRPr>
            </a:pPr>
            <a:r>
              <a:t>N/A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5212080"/>
            <a:ext cx="347472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E02B2B"/>
                </a:solidFill>
              </a:defRPr>
            </a:pPr>
            <a:r>
              <a:t>Instant handoff to human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B8D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Headless 360 is not just about</a:t>
            </a:r>
            <a:br/>
            <a:r>
              <a:t>removing the UI —</a:t>
            </a:r>
            <a:br/>
            <a:r>
              <a:t>it's about removing the ceiling.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Calibri"/>
              </a:defRPr>
            </a:pPr>
            <a:r>
              <a:t>By decoupling Agentforce from Salesforce surfaces, organisations can deliver autonomous, personalised, compliant AI experiences on any channel — while Salesforce remains the trusted backbone for data, logic, and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B8D"/>
                </a:solidFill>
                <a:latin typeface="Calibri"/>
              </a:defRPr>
            </a:pPr>
            <a:r>
              <a:t>FDE Bank Demo  |  Salesforce Agentforce  |  Flutter Mobile  |  TDX '26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